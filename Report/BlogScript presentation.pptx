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5" r:id="rId2"/>
    <p:sldId id="286" r:id="rId3"/>
    <p:sldId id="288" r:id="rId4"/>
    <p:sldId id="276" r:id="rId5"/>
    <p:sldId id="278" r:id="rId6"/>
    <p:sldId id="277" r:id="rId7"/>
    <p:sldId id="270" r:id="rId8"/>
    <p:sldId id="290" r:id="rId9"/>
    <p:sldId id="279" r:id="rId10"/>
    <p:sldId id="289" r:id="rId11"/>
    <p:sldId id="281" r:id="rId12"/>
    <p:sldId id="283" r:id="rId13"/>
    <p:sldId id="284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>
      <p:cViewPr varScale="1">
        <p:scale>
          <a:sx n="77" d="100"/>
          <a:sy n="77" d="100"/>
        </p:scale>
        <p:origin x="15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895D-D788-4B08-93B3-B78EFB535739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2714-8A85-4045-9756-8E58AB7B76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13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472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07C6-4040-6440-6FBE-855727F7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F764592-F840-9B77-489D-94D0F3E0A7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3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E59AB3BF-3968-2D7F-5C65-FA271F3CCF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0BD13948-E8D3-E5C7-6EE5-E15B15442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70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4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5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6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7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A046-68A2-FBAA-D962-08A9A14D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E86D990-F4AD-8B09-4746-462F9AFCA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8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F55DF7E8-5665-6578-3A10-0F63DF8BD1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A8A27E18-036A-F20D-2ED4-64FD0B7675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41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92821-2CCC-AF38-AB5F-EAAE9C157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04DF4DB-908F-7971-85F5-A3FD9BC3D6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FB416377-C879-4889-6CE6-5724554074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323791D9-6D17-5BA8-912D-638A0B7CA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94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11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12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13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08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56" y="0"/>
            <a:ext cx="9147855" cy="548680"/>
          </a:xfrm>
        </p:spPr>
        <p:txBody>
          <a:bodyPr>
            <a:normAutofit/>
          </a:bodyPr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4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064"/>
            <a:ext cx="395064" cy="365125"/>
          </a:xfrm>
        </p:spPr>
        <p:txBody>
          <a:bodyPr/>
          <a:lstStyle>
            <a:lvl1pPr algn="ctr">
              <a:defRPr/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53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39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1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91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77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5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85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7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67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08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9676" y="8721"/>
            <a:ext cx="916367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20688"/>
            <a:ext cx="9144000" cy="568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64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IN" sz="2800" b="1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scriptapp.free.nf/" TargetMode="Externa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5764CCD8-1BB5-E240-D3C7-A3A9D604A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58384"/>
            <a:ext cx="9144000" cy="79961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84036" y="1154039"/>
            <a:ext cx="9144000" cy="2043631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IN" dirty="0"/>
              <a:t> </a:t>
            </a:r>
            <a:r>
              <a:rPr lang="en-US" dirty="0"/>
              <a:t>CRUD based Blog web application (“BlogScript”)</a:t>
            </a:r>
            <a:br>
              <a:rPr lang="en-IN" dirty="0"/>
            </a:br>
            <a:br>
              <a:rPr lang="en-US" sz="2000" dirty="0">
                <a:ea typeface="Droid Sans Fallback"/>
                <a:cs typeface="Times New Roman" pitchFamily="18" charset="0"/>
              </a:rPr>
            </a:br>
            <a:r>
              <a:rPr lang="en-IN" sz="2700" b="0" u="sng" dirty="0"/>
              <a:t>Summer Internship Report Presentation </a:t>
            </a:r>
            <a:br>
              <a:rPr lang="en-IN" dirty="0"/>
            </a:br>
            <a:br>
              <a:rPr lang="en-US" sz="2400" dirty="0">
                <a:ea typeface="Droid Sans Fallback"/>
                <a:cs typeface="Times New Roman" pitchFamily="18" charset="0"/>
              </a:rPr>
            </a:br>
            <a:r>
              <a:rPr lang="en-US" sz="2000" dirty="0">
                <a:latin typeface="Calibri" pitchFamily="34" charset="0"/>
                <a:ea typeface="Droid Sans Fallback"/>
                <a:cs typeface="Times New Roman" pitchFamily="18" charset="0"/>
              </a:rPr>
              <a:t>Date: 08/11/2025</a:t>
            </a:r>
            <a:endParaRPr lang="en-IN" sz="2000" dirty="0"/>
          </a:p>
        </p:txBody>
      </p:sp>
      <p:sp>
        <p:nvSpPr>
          <p:cNvPr id="5" name="Rectangle 4"/>
          <p:cNvSpPr/>
          <p:nvPr/>
        </p:nvSpPr>
        <p:spPr>
          <a:xfrm>
            <a:off x="2003687" y="3097336"/>
            <a:ext cx="4968552" cy="14401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827584" y="6146555"/>
            <a:ext cx="7848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Droid Sans Fallback"/>
                <a:cs typeface="Calibri" pitchFamily="34" charset="0"/>
              </a:rPr>
              <a:t>COLLEGE OF COMPUTING SCIENCE &amp; INFORMATION TECHNOLOGY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Droid Sans Fallback"/>
                <a:cs typeface="Calibri" pitchFamily="34" charset="0"/>
              </a:rPr>
              <a:t>TEERTHANKER MAHAVEER UNIVERSITY, MORADABAD</a:t>
            </a:r>
            <a:endParaRPr lang="en-US" dirty="0">
              <a:solidFill>
                <a:schemeClr val="bg1"/>
              </a:solidFill>
              <a:latin typeface="Arial" pitchFamily="34" charset="0"/>
              <a:ea typeface="Droid Sans Fallback"/>
              <a:cs typeface="Calibri" pitchFamily="34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889" y="237215"/>
            <a:ext cx="1056146" cy="931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222833" y="4407178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u="sng" dirty="0">
                <a:latin typeface="Calibri" pitchFamily="34" charset="0"/>
                <a:ea typeface="Droid Sans Fallback"/>
                <a:cs typeface="Times New Roman" pitchFamily="18" charset="0"/>
              </a:rPr>
              <a:t>Team Members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u="sng" dirty="0">
                <a:latin typeface="Calibri" pitchFamily="34" charset="0"/>
                <a:ea typeface="Droid Sans Fallback"/>
                <a:cs typeface="Times New Roman" pitchFamily="18" charset="0"/>
              </a:rPr>
              <a:t>Pankaj Kumar Das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u="sng" dirty="0">
                <a:latin typeface="Calibri" pitchFamily="34" charset="0"/>
                <a:ea typeface="Droid Sans Fallback"/>
                <a:cs typeface="Times New Roman" pitchFamily="18" charset="0"/>
              </a:rPr>
              <a:t>Rahul Kumar Senuhar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u="sng" dirty="0">
                <a:latin typeface="Calibri" pitchFamily="34" charset="0"/>
                <a:ea typeface="Droid Sans Fallback"/>
                <a:cs typeface="Times New Roman" pitchFamily="18" charset="0"/>
              </a:rPr>
              <a:t>Banty Mishra</a:t>
            </a:r>
            <a:endParaRPr lang="en-US" u="sng" dirty="0">
              <a:latin typeface="Calibri" pitchFamily="34" charset="0"/>
              <a:ea typeface="Droid Sans Fallback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u="sng" dirty="0">
                <a:latin typeface="Calibri" pitchFamily="34" charset="0"/>
                <a:ea typeface="Droid Sans Fallback"/>
                <a:cs typeface="Times New Roman" pitchFamily="18" charset="0"/>
              </a:rPr>
              <a:t>Course: BCA</a:t>
            </a:r>
            <a:r>
              <a:rPr lang="en-US" b="1" u="sng" dirty="0">
                <a:latin typeface="Calibri" pitchFamily="34" charset="0"/>
                <a:ea typeface="Droid Sans Fallback"/>
                <a:cs typeface="Times New Roman" pitchFamily="18" charset="0"/>
              </a:rPr>
              <a:t> (5th Sem)</a:t>
            </a:r>
            <a:endParaRPr lang="en-US" u="sng" dirty="0">
              <a:latin typeface="Calibri" pitchFamily="34" charset="0"/>
              <a:ea typeface="Droid Sans Fallback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1560" y="4607244"/>
            <a:ext cx="37401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u="sng" dirty="0">
                <a:latin typeface="Calibri" pitchFamily="34" charset="0"/>
                <a:ea typeface="Droid Sans Fallback"/>
                <a:cs typeface="Times New Roman" pitchFamily="18" charset="0"/>
              </a:rPr>
              <a:t>Project Guide: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u="sng" dirty="0">
                <a:latin typeface="Calibri" pitchFamily="34" charset="0"/>
                <a:cs typeface="Times New Roman" pitchFamily="18" charset="0"/>
              </a:rPr>
              <a:t>Mr. Nitin Kumar Saini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u="sng" dirty="0">
                <a:latin typeface="Calibri" pitchFamily="34" charset="0"/>
                <a:cs typeface="Times New Roman" pitchFamily="18" charset="0"/>
              </a:rPr>
              <a:t>&amp;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u="sng" dirty="0">
                <a:latin typeface="Calibri" pitchFamily="34" charset="0"/>
                <a:cs typeface="Times New Roman" pitchFamily="18" charset="0"/>
              </a:rPr>
              <a:t>Ms. Vartika Gupta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092" y="3513202"/>
            <a:ext cx="80417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BCASI23501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alibri" pitchFamily="34" charset="0"/>
                <a:ea typeface="Droid Sans Fallback"/>
                <a:cs typeface="Times New Roman" pitchFamily="18" charset="0"/>
              </a:rPr>
              <a:t>Degree: BCA</a:t>
            </a:r>
            <a:endParaRPr lang="en-U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28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886" y="82877"/>
            <a:ext cx="2992005" cy="69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3B12784-358C-C2B3-9F54-8D9CA60B1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82" y="199502"/>
            <a:ext cx="617271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IN" dirty="0"/>
              <a:t>Team Details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6B6DDC-7743-C47E-6D77-7F584F598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236718"/>
              </p:ext>
            </p:extLst>
          </p:nvPr>
        </p:nvGraphicFramePr>
        <p:xfrm>
          <a:off x="624505" y="1215165"/>
          <a:ext cx="7891132" cy="39296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70732">
                  <a:extLst>
                    <a:ext uri="{9D8B030D-6E8A-4147-A177-3AD203B41FA5}">
                      <a16:colId xmlns:a16="http://schemas.microsoft.com/office/drawing/2014/main" val="910580425"/>
                    </a:ext>
                  </a:extLst>
                </a:gridCol>
                <a:gridCol w="2470732">
                  <a:extLst>
                    <a:ext uri="{9D8B030D-6E8A-4147-A177-3AD203B41FA5}">
                      <a16:colId xmlns:a16="http://schemas.microsoft.com/office/drawing/2014/main" val="3395761699"/>
                    </a:ext>
                  </a:extLst>
                </a:gridCol>
                <a:gridCol w="2949668">
                  <a:extLst>
                    <a:ext uri="{9D8B030D-6E8A-4147-A177-3AD203B41FA5}">
                      <a16:colId xmlns:a16="http://schemas.microsoft.com/office/drawing/2014/main" val="4288414226"/>
                    </a:ext>
                  </a:extLst>
                </a:gridCol>
              </a:tblGrid>
              <a:tr h="894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Name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Enrollment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Role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744911"/>
                  </a:ext>
                </a:extLst>
              </a:tr>
              <a:tr h="7435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RAHUL KUMAR SENUHAR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TCA2301558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Frontend 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131697"/>
                  </a:ext>
                </a:extLst>
              </a:tr>
              <a:tr h="7876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PANKAJ KUMAR DAS 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TCA2301489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Backend Developer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Testing &amp; Debugging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Hosting &amp; </a:t>
                      </a:r>
                      <a:r>
                        <a:rPr lang="en-IN" dirty="0"/>
                        <a:t>Deployment</a:t>
                      </a:r>
                      <a:endParaRPr lang="en-US" dirty="0"/>
                    </a:p>
                    <a:p>
                      <a:r>
                        <a:rPr lang="en-US" dirty="0"/>
                        <a:t> 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169662"/>
                  </a:ext>
                </a:extLst>
              </a:tr>
              <a:tr h="657984">
                <a:tc>
                  <a:txBody>
                    <a:bodyPr/>
                    <a:lstStyle/>
                    <a:p>
                      <a:r>
                        <a:rPr lang="en-US" dirty="0"/>
                        <a:t>Banty Mishra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TCA2301154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Content Writer / </a:t>
                      </a:r>
                      <a:r>
                        <a:rPr lang="en-IN"/>
                        <a:t>Manage Pending Blogs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792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7136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FACCA-380D-45FD-6046-CA13061E0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AED990-AFFB-B73A-EAE1-EEE7941B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3D2F9B-C714-2467-0928-12E7DBB9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3DF6A3C0-A094-CA2F-FD3B-4C0F77B3B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2F73113D-3EC4-348C-2CEA-766C425F0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>
            <a:extLst>
              <a:ext uri="{FF2B5EF4-FFF2-40B4-BE49-F238E27FC236}">
                <a16:creationId xmlns:a16="http://schemas.microsoft.com/office/drawing/2014/main" id="{F4CD0EBB-52B6-087D-4BFA-B385FD27C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886" y="82877"/>
            <a:ext cx="2992005" cy="69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436E1B3C-F076-6094-3840-39AAE46C5D78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25BA0D2-E36A-D25C-968E-A65988053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82" y="199502"/>
            <a:ext cx="617271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IN" dirty="0"/>
              <a:t>Table of Contents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52D6A7-8C75-2308-F011-5B4D33106F6D}"/>
              </a:ext>
            </a:extLst>
          </p:cNvPr>
          <p:cNvSpPr txBox="1"/>
          <p:nvPr/>
        </p:nvSpPr>
        <p:spPr>
          <a:xfrm>
            <a:off x="477619" y="980031"/>
            <a:ext cx="8209384" cy="556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spcBef>
                <a:spcPts val="2100"/>
              </a:spcBef>
              <a:buClr>
                <a:srgbClr val="0D0D0D"/>
              </a:buClr>
              <a:buSzPts val="1200"/>
              <a:buFont typeface="+mj-lt"/>
              <a:buAutoNum type="arabicPeriod"/>
            </a:pPr>
            <a:r>
              <a:rPr lang="en-IN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Project Brief Introduction</a:t>
            </a:r>
            <a:endParaRPr lang="en-IN" sz="160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>
              <a:lnSpc>
                <a:spcPct val="200000"/>
              </a:lnSpc>
              <a:buClr>
                <a:srgbClr val="0D0D0D"/>
              </a:buClr>
              <a:buSzPts val="1200"/>
              <a:buFont typeface="+mj-lt"/>
              <a:buAutoNum type="arabicPeriod"/>
            </a:pPr>
            <a:r>
              <a:rPr lang="en-US" sz="1800" b="1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Methodologies/ Technologies/ Tools to be used</a:t>
            </a:r>
            <a:endParaRPr lang="en-IN" sz="160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>
              <a:lnSpc>
                <a:spcPct val="200000"/>
              </a:lnSpc>
              <a:buClr>
                <a:srgbClr val="0D0D0D"/>
              </a:buClr>
              <a:buSzPts val="1200"/>
              <a:buFont typeface="+mj-lt"/>
              <a:buAutoNum type="arabicPeriod"/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Internship Duties</a:t>
            </a:r>
            <a:endParaRPr lang="en-IN" sz="160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>
              <a:lnSpc>
                <a:spcPct val="200000"/>
              </a:lnSpc>
              <a:buClr>
                <a:srgbClr val="0D0D0D"/>
              </a:buClr>
              <a:buSzPts val="1200"/>
              <a:buFont typeface="+mj-lt"/>
              <a:buAutoNum type="arabicPeriod"/>
            </a:pPr>
            <a:r>
              <a:rPr lang="en-IN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 Diagram (Overall Project)</a:t>
            </a:r>
          </a:p>
          <a:p>
            <a:pPr marL="342900" lvl="0" indent="-342900">
              <a:lnSpc>
                <a:spcPct val="200000"/>
              </a:lnSpc>
              <a:buClr>
                <a:srgbClr val="0D0D0D"/>
              </a:buClr>
              <a:buSzPts val="1200"/>
              <a:buFont typeface="+mj-lt"/>
              <a:buAutoNum type="arabicPeriod"/>
            </a:pPr>
            <a:r>
              <a:rPr lang="en-IN" sz="1600" b="1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 Diagrams</a:t>
            </a:r>
            <a:endParaRPr lang="en-IN" sz="160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>
              <a:lnSpc>
                <a:spcPct val="200000"/>
              </a:lnSpc>
              <a:buClr>
                <a:srgbClr val="0D0D0D"/>
              </a:buClr>
              <a:buSzPts val="1200"/>
              <a:buFont typeface="+mj-lt"/>
              <a:buAutoNum type="arabicPeriod"/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Challenges Encountered</a:t>
            </a:r>
          </a:p>
          <a:p>
            <a:pPr marL="342900" lvl="0" indent="-342900">
              <a:lnSpc>
                <a:spcPct val="200000"/>
              </a:lnSpc>
              <a:buClr>
                <a:srgbClr val="0D0D0D"/>
              </a:buClr>
              <a:buSzPts val="1200"/>
              <a:buFont typeface="+mj-lt"/>
              <a:buAutoNum type="arabicPeriod"/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Advantage of The Project</a:t>
            </a:r>
            <a:endParaRPr lang="en-IN" sz="160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>
              <a:lnSpc>
                <a:spcPct val="200000"/>
              </a:lnSpc>
              <a:buClr>
                <a:srgbClr val="0D0D0D"/>
              </a:buClr>
              <a:buSzPts val="1200"/>
              <a:buFont typeface="+mj-lt"/>
              <a:buAutoNum type="arabicPeriod"/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Summary and Conclusion</a:t>
            </a:r>
            <a:endParaRPr lang="en-IN" sz="160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2100"/>
              </a:spcAft>
              <a:buClr>
                <a:srgbClr val="0D0D0D"/>
              </a:buClr>
              <a:buSzPts val="1200"/>
              <a:buFont typeface="+mj-lt"/>
              <a:buAutoNum type="arabicPeriod"/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Appendices</a:t>
            </a:r>
            <a:endParaRPr lang="en-IN" sz="160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627335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7532" y="999038"/>
            <a:ext cx="8748936" cy="500183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23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During this internship, I worked on a live project named </a:t>
            </a:r>
            <a:r>
              <a:rPr lang="en-IN" sz="23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“BlogScript”</a:t>
            </a:r>
            <a:r>
              <a:rPr lang="en-IN" sz="23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it is basically a CRUD based blog web application where a user can read and write text based blogs </a:t>
            </a:r>
            <a:r>
              <a:rPr lang="en-IN" sz="2300" dirty="0">
                <a:latin typeface="Arial" panose="020B0604020202020204" pitchFamily="34" charset="0"/>
                <a:ea typeface="Times New Roman" panose="02020603050405020304" pitchFamily="18" charset="0"/>
              </a:rPr>
              <a:t>and also</a:t>
            </a:r>
            <a:r>
              <a:rPr lang="en-IN" sz="23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become a creator .  Through this project, I not only learned about coding standards but also improved my problem-solving ability and development skills . 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395064" y="174144"/>
            <a:ext cx="617271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IN" dirty="0"/>
              <a:t>1. </a:t>
            </a:r>
            <a:r>
              <a:rPr lang="en-US" dirty="0"/>
              <a:t>Project Brief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59727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7532" y="914400"/>
            <a:ext cx="8312744" cy="5250904"/>
          </a:xfrm>
        </p:spPr>
        <p:txBody>
          <a:bodyPr>
            <a:normAutofit/>
          </a:bodyPr>
          <a:lstStyle/>
          <a:p>
            <a:pPr indent="-160338"/>
            <a:r>
              <a:rPr lang="en-IN" dirty="0"/>
              <a:t>During my internship, I gained valuable skills that strengthened my career foundation:</a:t>
            </a:r>
            <a:endParaRPr lang="en-IN" sz="1800" dirty="0"/>
          </a:p>
          <a:p>
            <a:pPr lvl="0" indent="-160338"/>
            <a:r>
              <a:rPr lang="en-IN" b="1" dirty="0"/>
              <a:t>Technical Skills:</a:t>
            </a:r>
            <a:endParaRPr lang="en-IN" sz="1400" dirty="0"/>
          </a:p>
          <a:p>
            <a:pPr marL="342900" lvl="1" indent="-160338"/>
            <a:r>
              <a:rPr lang="en-IN" dirty="0"/>
              <a:t>PHP for server-side scripting</a:t>
            </a:r>
            <a:endParaRPr lang="en-IN" sz="1600" dirty="0"/>
          </a:p>
          <a:p>
            <a:pPr marL="342900" lvl="1" indent="-160338"/>
            <a:r>
              <a:rPr lang="en-IN" dirty="0"/>
              <a:t>MySQL database management</a:t>
            </a:r>
            <a:endParaRPr lang="en-IN" sz="1600" dirty="0"/>
          </a:p>
          <a:p>
            <a:pPr marL="342900" lvl="1" indent="-160338"/>
            <a:r>
              <a:rPr lang="en-IN" dirty="0"/>
              <a:t>JavaScript for form validation and interactivity</a:t>
            </a:r>
            <a:endParaRPr lang="en-IN" sz="1600" dirty="0"/>
          </a:p>
          <a:p>
            <a:pPr marL="342900" lvl="1" indent="-160338"/>
            <a:r>
              <a:rPr lang="en-IN" dirty="0"/>
              <a:t>HTML &amp; CSS for responsive UI design</a:t>
            </a:r>
            <a:endParaRPr lang="en-IN" sz="1600" dirty="0"/>
          </a:p>
          <a:p>
            <a:pPr marL="342900" lvl="1" indent="-160338"/>
            <a:r>
              <a:rPr lang="en-IN" dirty="0"/>
              <a:t>Git for version control and Infinity free Hosting </a:t>
            </a:r>
            <a:endParaRPr lang="en-IN" sz="1600" dirty="0"/>
          </a:p>
          <a:p>
            <a:pPr lvl="0" indent="-160338"/>
            <a:r>
              <a:rPr lang="en-IN" b="1" dirty="0"/>
              <a:t>Professional Skills:</a:t>
            </a:r>
            <a:endParaRPr lang="en-IN" sz="1400" dirty="0"/>
          </a:p>
          <a:p>
            <a:pPr marL="342900" lvl="1" indent="-160338"/>
            <a:r>
              <a:rPr lang="en-IN" dirty="0"/>
              <a:t>Working in a tech environment</a:t>
            </a:r>
            <a:endParaRPr lang="en-IN" sz="1600" dirty="0"/>
          </a:p>
          <a:p>
            <a:pPr marL="342900" lvl="1" indent="-160338"/>
            <a:r>
              <a:rPr lang="en-IN" dirty="0"/>
              <a:t>Time management while handling project deadlines</a:t>
            </a:r>
            <a:endParaRPr lang="en-IN" sz="1600" dirty="0"/>
          </a:p>
          <a:p>
            <a:pPr marL="342900" lvl="1" indent="-160338"/>
            <a:r>
              <a:rPr lang="en-IN" dirty="0"/>
              <a:t>Problem-solving and debugging techniques</a:t>
            </a:r>
            <a:endParaRPr lang="en-IN" sz="1600" dirty="0"/>
          </a:p>
          <a:p>
            <a:pPr marL="342900" lvl="1" indent="-160338"/>
            <a:r>
              <a:rPr lang="en-IN" dirty="0"/>
              <a:t>Communicating effectively with supervisors and peers</a:t>
            </a:r>
            <a:endParaRPr lang="en-IN" sz="1600" dirty="0"/>
          </a:p>
          <a:p>
            <a:pPr indent="-160338"/>
            <a:endParaRPr lang="en-IN" dirty="0"/>
          </a:p>
          <a:p>
            <a:pPr indent="-160338"/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197532" y="218365"/>
            <a:ext cx="574262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2. Methodologies/ Technologies/ Tools to be used</a:t>
            </a:r>
          </a:p>
          <a:p>
            <a:endParaRPr lang="en-US" sz="2000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098" name="Picture 2" descr="PHP Logo PNG Transparent &amp; SVG Vector - Freebie Supply">
            <a:extLst>
              <a:ext uri="{FF2B5EF4-FFF2-40B4-BE49-F238E27FC236}">
                <a16:creationId xmlns:a16="http://schemas.microsoft.com/office/drawing/2014/main" id="{D3E198F5-2E1D-DD2C-04C4-893B60E9B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681" y="1136104"/>
            <a:ext cx="1656184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MySQL, rotated logo, white background B Stock Photo - Alamy">
            <a:extLst>
              <a:ext uri="{FF2B5EF4-FFF2-40B4-BE49-F238E27FC236}">
                <a16:creationId xmlns:a16="http://schemas.microsoft.com/office/drawing/2014/main" id="{D64F2ED0-1495-4203-DDD6-1F9913F25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270" y="2426398"/>
            <a:ext cx="1739006" cy="1253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Javascript Logo PNG Images, Free Transparent Javascript Logo Download ...">
            <a:extLst>
              <a:ext uri="{FF2B5EF4-FFF2-40B4-BE49-F238E27FC236}">
                <a16:creationId xmlns:a16="http://schemas.microsoft.com/office/drawing/2014/main" id="{E78CCEB8-D80F-C140-59E8-54861E79B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500" y="4021557"/>
            <a:ext cx="2361367" cy="192204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 fontScale="62500" lnSpcReduction="20000"/>
          </a:bodyPr>
          <a:lstStyle/>
          <a:p>
            <a:pPr marL="457200">
              <a:lnSpc>
                <a:spcPct val="150000"/>
              </a:lnSpc>
              <a:spcBef>
                <a:spcPts val="600"/>
              </a:spcBef>
              <a:spcAft>
                <a:spcPts val="2100"/>
              </a:spcAft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Throughout my internship, I was actively involved in both </a:t>
            </a:r>
            <a:r>
              <a:rPr lang="en-IN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development</a:t>
            </a:r>
            <a:r>
              <a:rPr lang="en-IN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and </a:t>
            </a:r>
            <a:r>
              <a:rPr lang="en-IN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testing</a:t>
            </a:r>
            <a:r>
              <a:rPr lang="en-IN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phases of the BlogScript project. My major responsibilities included: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538163" lvl="0" indent="-182563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Week 1:</a:t>
            </a:r>
            <a:r>
              <a:rPr lang="en-IN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Setting Up development Environment 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38163" lvl="0" indent="-182563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Week 2:</a:t>
            </a:r>
            <a:r>
              <a:rPr lang="en-IN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Developing dynamic web pages in PHP to enable basic CRUD (Create, Read, Update, Delete) application.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38163" lvl="0" indent="-182563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Week 3:</a:t>
            </a:r>
            <a:r>
              <a:rPr lang="en-IN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Advanced Features Implementation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38163" lvl="0" indent="-182563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Arial" panose="020B0604020202020204" pitchFamily="34" charset="0"/>
                <a:ea typeface="Times New Roman" panose="02020603050405020304" pitchFamily="18" charset="0"/>
              </a:rPr>
              <a:t>Week</a:t>
            </a:r>
            <a:r>
              <a:rPr lang="en-IN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4:</a:t>
            </a:r>
            <a:r>
              <a:rPr lang="en-IN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Security Enhancements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38163" lvl="0" indent="-182563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Arial" panose="020B0604020202020204" pitchFamily="34" charset="0"/>
                <a:ea typeface="Times New Roman" panose="02020603050405020304" pitchFamily="18" charset="0"/>
              </a:rPr>
              <a:t>Week</a:t>
            </a:r>
            <a:r>
              <a:rPr lang="en-IN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5:</a:t>
            </a:r>
            <a:r>
              <a:rPr lang="en-IN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Testing the application for bugs, debugging code, and ensuring performance optimization.</a:t>
            </a:r>
          </a:p>
          <a:p>
            <a:pPr marL="538163" lvl="0" indent="-182563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Week 6 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Hosting in </a:t>
            </a:r>
            <a:r>
              <a:rPr lang="en-IN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infinity free hosting </a:t>
            </a:r>
            <a:endParaRPr lang="en-IN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 tasks </a:t>
            </a:r>
            <a:r>
              <a:rPr lang="en-IN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gave me the confidence to handle full-stack development modules independently.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18955" y="172514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  3.Internship Duties: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rear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188821" y="226367"/>
            <a:ext cx="617271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 4. Context Diagram (Overall Project)</a:t>
            </a:r>
          </a:p>
          <a:p>
            <a:pPr>
              <a:spcBef>
                <a:spcPct val="50000"/>
              </a:spcBef>
            </a:pPr>
            <a:endParaRPr lang="en-US" sz="1600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76FCB8-374B-A21E-9D79-1CC3BDD63367}"/>
              </a:ext>
            </a:extLst>
          </p:cNvPr>
          <p:cNvCxnSpPr>
            <a:cxnSpLocks/>
          </p:cNvCxnSpPr>
          <p:nvPr/>
        </p:nvCxnSpPr>
        <p:spPr>
          <a:xfrm>
            <a:off x="5471582" y="4176143"/>
            <a:ext cx="1122185" cy="644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390" name="Straight Connector 485389">
            <a:extLst>
              <a:ext uri="{FF2B5EF4-FFF2-40B4-BE49-F238E27FC236}">
                <a16:creationId xmlns:a16="http://schemas.microsoft.com/office/drawing/2014/main" id="{BA4AB018-47C9-44EB-A5F4-C1989BE0EB42}"/>
              </a:ext>
            </a:extLst>
          </p:cNvPr>
          <p:cNvCxnSpPr>
            <a:cxnSpLocks/>
          </p:cNvCxnSpPr>
          <p:nvPr/>
        </p:nvCxnSpPr>
        <p:spPr>
          <a:xfrm flipH="1">
            <a:off x="8532440" y="5238045"/>
            <a:ext cx="4187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359E8559-6F45-015F-EA10-9FA9CAFC8009}"/>
              </a:ext>
            </a:extLst>
          </p:cNvPr>
          <p:cNvGrpSpPr/>
          <p:nvPr/>
        </p:nvGrpSpPr>
        <p:grpSpPr>
          <a:xfrm>
            <a:off x="611559" y="1601328"/>
            <a:ext cx="8339583" cy="4098515"/>
            <a:chOff x="611559" y="1601328"/>
            <a:chExt cx="8339583" cy="409851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FCC407E-8089-46EB-BADD-A91282AD5EA7}"/>
                </a:ext>
              </a:extLst>
            </p:cNvPr>
            <p:cNvSpPr/>
            <p:nvPr/>
          </p:nvSpPr>
          <p:spPr>
            <a:xfrm>
              <a:off x="3716968" y="2973691"/>
              <a:ext cx="1716765" cy="165200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Creator</a:t>
              </a:r>
            </a:p>
            <a:p>
              <a:pPr algn="ctr"/>
              <a:r>
                <a:rPr lang="en-US" dirty="0"/>
                <a:t>Dashboard</a:t>
              </a:r>
              <a:endParaRPr lang="en-IN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55B93F-B23C-61E2-71D3-3394E63E0100}"/>
                </a:ext>
              </a:extLst>
            </p:cNvPr>
            <p:cNvSpPr/>
            <p:nvPr/>
          </p:nvSpPr>
          <p:spPr>
            <a:xfrm>
              <a:off x="6854569" y="3032340"/>
              <a:ext cx="1810894" cy="46050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Creator Database</a:t>
              </a:r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458A62-3B07-8648-A3A0-7A8D474F0676}"/>
                </a:ext>
              </a:extLst>
            </p:cNvPr>
            <p:cNvSpPr/>
            <p:nvPr/>
          </p:nvSpPr>
          <p:spPr>
            <a:xfrm>
              <a:off x="703915" y="5021501"/>
              <a:ext cx="1606185" cy="4605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Creator </a:t>
              </a:r>
              <a:endParaRPr lang="en-IN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DBF16E6-8B8F-7B76-E90B-A44958D98D01}"/>
                </a:ext>
              </a:extLst>
            </p:cNvPr>
            <p:cNvSpPr/>
            <p:nvPr/>
          </p:nvSpPr>
          <p:spPr>
            <a:xfrm>
              <a:off x="703916" y="1601328"/>
              <a:ext cx="1554525" cy="3679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Posts</a:t>
              </a:r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9FB38B-792B-67D0-5F37-3487C9225A67}"/>
                </a:ext>
              </a:extLst>
            </p:cNvPr>
            <p:cNvSpPr/>
            <p:nvPr/>
          </p:nvSpPr>
          <p:spPr>
            <a:xfrm>
              <a:off x="6833902" y="4955883"/>
              <a:ext cx="1606185" cy="4605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Post Database</a:t>
              </a:r>
              <a:endParaRPr lang="en-IN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ABE292-5160-807D-9E49-6502B08F1D70}"/>
                </a:ext>
              </a:extLst>
            </p:cNvPr>
            <p:cNvSpPr/>
            <p:nvPr/>
          </p:nvSpPr>
          <p:spPr>
            <a:xfrm>
              <a:off x="611559" y="3184984"/>
              <a:ext cx="1698541" cy="4362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 </a:t>
              </a:r>
              <a:endParaRPr lang="en-IN" dirty="0"/>
            </a:p>
            <a:p>
              <a:pPr algn="ctr"/>
              <a:endParaRPr lang="en-IN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58A8167-1C33-CC1D-4403-0C43B5DE94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3768" y="4260381"/>
              <a:ext cx="1101684" cy="76112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02F4C34-441B-10FC-D97D-A47CD36D39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3768" y="3520372"/>
              <a:ext cx="10781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E6A5F2A-7C68-E2CA-CCA1-380CDEC41C13}"/>
                </a:ext>
              </a:extLst>
            </p:cNvPr>
            <p:cNvSpPr/>
            <p:nvPr/>
          </p:nvSpPr>
          <p:spPr>
            <a:xfrm>
              <a:off x="7769363" y="4133584"/>
              <a:ext cx="1181779" cy="21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Creator ID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32FB9E8-9468-A0DB-DAE8-462E29574FE1}"/>
                </a:ext>
              </a:extLst>
            </p:cNvPr>
            <p:cNvSpPr/>
            <p:nvPr/>
          </p:nvSpPr>
          <p:spPr>
            <a:xfrm>
              <a:off x="2915448" y="4760074"/>
              <a:ext cx="1181779" cy="21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Signup &amp; Login 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F33010C-C2F3-37C6-9080-D5A04C12F8C8}"/>
                </a:ext>
              </a:extLst>
            </p:cNvPr>
            <p:cNvSpPr/>
            <p:nvPr/>
          </p:nvSpPr>
          <p:spPr>
            <a:xfrm>
              <a:off x="5975648" y="4176143"/>
              <a:ext cx="1181779" cy="21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CRUD post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CA10247-A0B2-A2BE-71FD-B24AFC025C44}"/>
                </a:ext>
              </a:extLst>
            </p:cNvPr>
            <p:cNvCxnSpPr>
              <a:cxnSpLocks/>
            </p:cNvCxnSpPr>
            <p:nvPr/>
          </p:nvCxnSpPr>
          <p:spPr>
            <a:xfrm>
              <a:off x="7753220" y="3799691"/>
              <a:ext cx="0" cy="10207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6FA6F8D-1238-064D-2AE2-AD16F54183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6616" y="2130641"/>
              <a:ext cx="0" cy="937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C98CDF9-EF25-B192-01FA-481292233AF2}"/>
                </a:ext>
              </a:extLst>
            </p:cNvPr>
            <p:cNvCxnSpPr>
              <a:cxnSpLocks/>
            </p:cNvCxnSpPr>
            <p:nvPr/>
          </p:nvCxnSpPr>
          <p:spPr>
            <a:xfrm>
              <a:off x="5433733" y="3403122"/>
              <a:ext cx="113280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958275B-A238-1635-CE22-1E122364C6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3768" y="1865866"/>
              <a:ext cx="1368152" cy="12021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2E46258-C424-1D6B-C2AD-51505231E7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5352" y="3773580"/>
              <a:ext cx="0" cy="114576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383" name="Straight Arrow Connector 485382">
              <a:extLst>
                <a:ext uri="{FF2B5EF4-FFF2-40B4-BE49-F238E27FC236}">
                  <a16:creationId xmlns:a16="http://schemas.microsoft.com/office/drawing/2014/main" id="{931ED033-8E8F-5E23-7817-3A80735A64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3768" y="1601328"/>
              <a:ext cx="6428518" cy="274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388" name="Straight Connector 485387">
              <a:extLst>
                <a:ext uri="{FF2B5EF4-FFF2-40B4-BE49-F238E27FC236}">
                  <a16:creationId xmlns:a16="http://schemas.microsoft.com/office/drawing/2014/main" id="{B2602C27-B9B5-A1D4-E767-9510637E1BE2}"/>
                </a:ext>
              </a:extLst>
            </p:cNvPr>
            <p:cNvCxnSpPr/>
            <p:nvPr/>
          </p:nvCxnSpPr>
          <p:spPr>
            <a:xfrm>
              <a:off x="8912286" y="1601328"/>
              <a:ext cx="0" cy="36367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5391" name="Rectangle 485390">
              <a:extLst>
                <a:ext uri="{FF2B5EF4-FFF2-40B4-BE49-F238E27FC236}">
                  <a16:creationId xmlns:a16="http://schemas.microsoft.com/office/drawing/2014/main" id="{871736E3-AA24-113D-FC00-6358CBD0D437}"/>
                </a:ext>
              </a:extLst>
            </p:cNvPr>
            <p:cNvSpPr/>
            <p:nvPr/>
          </p:nvSpPr>
          <p:spPr>
            <a:xfrm>
              <a:off x="7038725" y="5486963"/>
              <a:ext cx="1181779" cy="21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Post ID</a:t>
              </a:r>
              <a:endParaRPr lang="en-IN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379054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5A176-B224-3BFD-1D4F-B21BDFBE7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CA34EC-6D1D-5E55-4CFD-E6859AEEF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rear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EA5AB0-DBDD-3E99-15E7-B6D8C2A9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DA7D2667-9A4C-8AC4-964A-84F05F420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2802219E-88E4-27F9-A265-09EC95A3B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21" y="226367"/>
            <a:ext cx="61727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 5. ER Diagrams </a:t>
            </a:r>
            <a:endParaRPr lang="en-US" sz="1600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79373FCD-15F6-B938-5B84-FE505BE05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>
            <a:extLst>
              <a:ext uri="{FF2B5EF4-FFF2-40B4-BE49-F238E27FC236}">
                <a16:creationId xmlns:a16="http://schemas.microsoft.com/office/drawing/2014/main" id="{3142D028-BA3F-6350-91C3-6E8F8444F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8F112770-CAFA-A0C6-41A1-C7866B0451B9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5" name="Rectangle 40">
            <a:extLst>
              <a:ext uri="{FF2B5EF4-FFF2-40B4-BE49-F238E27FC236}">
                <a16:creationId xmlns:a16="http://schemas.microsoft.com/office/drawing/2014/main" id="{9CDD67D2-D18E-6397-6B0C-B7B5BEA04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0B036-028E-75BF-2B13-BA266F3C1C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232085"/>
            <a:ext cx="6591820" cy="4393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808181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A33CA55-3870-611E-F5D8-2C10C05323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9539196"/>
              </p:ext>
            </p:extLst>
          </p:nvPr>
        </p:nvGraphicFramePr>
        <p:xfrm>
          <a:off x="467072" y="1047250"/>
          <a:ext cx="8065368" cy="4961891"/>
        </p:xfrm>
        <a:graphic>
          <a:graphicData uri="http://schemas.openxmlformats.org/drawingml/2006/table">
            <a:tbl>
              <a:tblPr/>
              <a:tblGrid>
                <a:gridCol w="4021482">
                  <a:extLst>
                    <a:ext uri="{9D8B030D-6E8A-4147-A177-3AD203B41FA5}">
                      <a16:colId xmlns:a16="http://schemas.microsoft.com/office/drawing/2014/main" val="2569486986"/>
                    </a:ext>
                  </a:extLst>
                </a:gridCol>
                <a:gridCol w="4043886">
                  <a:extLst>
                    <a:ext uri="{9D8B030D-6E8A-4147-A177-3AD203B41FA5}">
                      <a16:colId xmlns:a16="http://schemas.microsoft.com/office/drawing/2014/main" val="1574312239"/>
                    </a:ext>
                  </a:extLst>
                </a:gridCol>
              </a:tblGrid>
              <a:tr h="5923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IN" sz="32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Challenges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595" marR="46595" marT="46595" marB="46595" anchor="b">
                    <a:lnL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IN" sz="32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Solution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595" marR="46595" marT="46595" marB="46595" anchor="b">
                    <a:lnL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34896"/>
                  </a:ext>
                </a:extLst>
              </a:tr>
              <a:tr h="84968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Handling complex database relationships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595" marR="46595" marT="46595" marB="46595" anchor="ctr">
                    <a:lnL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Learned normalization techniques and optimized queries for performance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595" marR="46595" marT="46595" marB="46595" anchor="ctr">
                    <a:lnL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706049"/>
                  </a:ext>
                </a:extLst>
              </a:tr>
              <a:tr h="9057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Debugging authentication issues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595" marR="46595" marT="46595" marB="46595" anchor="ctr">
                    <a:lnL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Referred to PHP session handling concepts and used step-by-step debugging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595" marR="46595" marT="46595" marB="46595" anchor="ctr">
                    <a:lnL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473326"/>
                  </a:ext>
                </a:extLst>
              </a:tr>
              <a:tr h="12592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Adapting to company’s coding standards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595" marR="46595" marT="46595" marB="46595" anchor="ctr">
                    <a:lnL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Studied their coding guidelines and followed structured documentation practices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595" marR="46595" marT="46595" marB="46595" anchor="ctr">
                    <a:lnL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551221"/>
                  </a:ext>
                </a:extLst>
              </a:tr>
              <a:tr h="66166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Managing time between tasks and deadlines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595" marR="46595" marT="46595" marB="46595" anchor="ctr">
                    <a:lnL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Prepared daily task lists and followed Agile-based work tracking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595" marR="46595" marT="46595" marB="46595" anchor="ctr">
                    <a:lnL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853248"/>
                  </a:ext>
                </a:extLst>
              </a:tr>
              <a:tr h="43334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0"/>
                        </a:spcBef>
                        <a:buNone/>
                      </a:pPr>
                      <a:endParaRPr lang="en-IN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595" marR="46595" marT="46595" marB="46595" anchor="ctr">
                    <a:lnL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IN" sz="1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  <a:endParaRPr lang="en-IN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595" marR="46595" marT="46595" marB="46595" anchor="ctr">
                    <a:lnL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66877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-39975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197532" y="263042"/>
            <a:ext cx="61727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6.Challenges Encountered: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9A0E7-C339-AA02-6D37-2EC8DE32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A43CD1-984D-98F4-83EE-C8B29FEC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21FA51-4478-0CC8-E5B8-22A2E87F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10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63E1E231-56A1-30CF-BE5F-0CEACF0C3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9975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70D1C463-D4D7-2CCC-580A-FCD5EC741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36" y="241765"/>
            <a:ext cx="6172712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7. Advantage of The Project</a:t>
            </a:r>
          </a:p>
          <a:p>
            <a:pPr>
              <a:spcBef>
                <a:spcPct val="50000"/>
              </a:spcBef>
            </a:pP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7BAA1CC8-40AA-FDF0-8D0A-A3D28C130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>
            <a:extLst>
              <a:ext uri="{FF2B5EF4-FFF2-40B4-BE49-F238E27FC236}">
                <a16:creationId xmlns:a16="http://schemas.microsoft.com/office/drawing/2014/main" id="{39222401-B645-E43C-7FB7-B56DCC497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AD75323-012B-A47D-68C7-A5B29D0D9943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10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9A92CA38-0D6D-3541-A495-CDE31C555C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3536" y="874425"/>
            <a:ext cx="867692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Content Creation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Users can quickly write and publish blogs.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Anytime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Existing posts can be edited to keep content fresh.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When Needed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Unwanted blogs can be removed in just one click.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Design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Simple interface makes it easy for anyone to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Layout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Works smoothly across desktop, tablet, and mobile.</a:t>
            </a:r>
          </a:p>
        </p:txBody>
      </p:sp>
    </p:spTree>
    <p:extLst>
      <p:ext uri="{BB962C8B-B14F-4D97-AF65-F5344CB8AC3E}">
        <p14:creationId xmlns:p14="http://schemas.microsoft.com/office/powerpoint/2010/main" val="417735207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11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250395" y="232073"/>
            <a:ext cx="61727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8.Summary and Conclusion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11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0823A9-CFF7-BE82-7195-A40AF1727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20059"/>
            <a:ext cx="9144000" cy="5400600"/>
          </a:xfrm>
        </p:spPr>
        <p:txBody>
          <a:bodyPr/>
          <a:lstStyle/>
          <a:p>
            <a:pPr marL="358775" indent="0">
              <a:buNone/>
            </a:pPr>
            <a:r>
              <a:rPr lang="en-US" dirty="0"/>
              <a:t>BlogScript is a lightweight and efficient web application built on the </a:t>
            </a:r>
            <a:r>
              <a:rPr lang="en-US" b="1" dirty="0"/>
              <a:t>CRUD (Create, Read, Update, Delete)</a:t>
            </a:r>
            <a:r>
              <a:rPr lang="en-US" dirty="0"/>
              <a:t> model, giving users full control over their blogs. With a simple and responsive interface, it allows writers to:</a:t>
            </a:r>
          </a:p>
          <a:p>
            <a:r>
              <a:rPr lang="en-US" b="1" dirty="0"/>
              <a:t>Create</a:t>
            </a:r>
            <a:r>
              <a:rPr lang="en-US" dirty="0"/>
              <a:t> new blog posts with ease</a:t>
            </a:r>
          </a:p>
          <a:p>
            <a:r>
              <a:rPr lang="en-US" b="1" dirty="0"/>
              <a:t>Read</a:t>
            </a:r>
            <a:r>
              <a:rPr lang="en-US" dirty="0"/>
              <a:t> and explore articles through clean navigation</a:t>
            </a:r>
          </a:p>
          <a:p>
            <a:r>
              <a:rPr lang="en-US" b="1" dirty="0"/>
              <a:t>Update</a:t>
            </a:r>
            <a:r>
              <a:rPr lang="en-US" dirty="0"/>
              <a:t> existing content anytime</a:t>
            </a:r>
          </a:p>
          <a:p>
            <a:r>
              <a:rPr lang="en-US" b="1" dirty="0"/>
              <a:t>Delete</a:t>
            </a:r>
            <a:r>
              <a:rPr lang="en-US" dirty="0"/>
              <a:t> posts when no longer needed</a:t>
            </a:r>
          </a:p>
          <a:p>
            <a:r>
              <a:rPr lang="en-US" dirty="0"/>
              <a:t>Designed with scalability and SEO in mind, BlogScript is ideal for students, developers, and content creators who want a hands-on blogging experience while learning core web development concepts.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92849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12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-3175" y="0"/>
            <a:ext cx="9147175" cy="549275"/>
          </a:xfrm>
        </p:spPr>
        <p:txBody>
          <a:bodyPr/>
          <a:lstStyle/>
          <a:p>
            <a:r>
              <a:rPr lang="en-IN" dirty="0"/>
              <a:t>\</a:t>
            </a: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18538" y="177542"/>
            <a:ext cx="61727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   9. Appendices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12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3D6073-9CDF-F261-CCA6-92246D5F78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2321246"/>
            <a:ext cx="945924" cy="19354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61B88C-5FE6-3B2D-4A52-0493A0CD6A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954" y="2321246"/>
            <a:ext cx="1341536" cy="18043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596A31-1376-91CA-E4A6-F90D20BD8F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3519" r="97222">
                        <a14:foregroundMark x1="18426" y1="44815" x2="18426" y2="44815"/>
                        <a14:foregroundMark x1="20833" y1="26667" x2="20833" y2="26667"/>
                        <a14:foregroundMark x1="13611" y1="26667" x2="13611" y2="26667"/>
                        <a14:foregroundMark x1="9722" y1="27407" x2="9722" y2="27407"/>
                        <a14:foregroundMark x1="8796" y1="24074" x2="8796" y2="24074"/>
                        <a14:foregroundMark x1="12778" y1="28241" x2="12778" y2="28241"/>
                        <a14:foregroundMark x1="55185" y1="42315" x2="55185" y2="42315"/>
                        <a14:foregroundMark x1="67130" y1="44630" x2="67130" y2="44630"/>
                        <a14:foregroundMark x1="51481" y1="68148" x2="51296" y2="68519"/>
                        <a14:foregroundMark x1="58426" y1="61759" x2="58426" y2="61759"/>
                        <a14:foregroundMark x1="56852" y1="52593" x2="56852" y2="52593"/>
                        <a14:foregroundMark x1="56852" y1="50556" x2="58981" y2="49167"/>
                        <a14:foregroundMark x1="64907" y1="46481" x2="61296" y2="50556"/>
                        <a14:foregroundMark x1="69167" y1="45370" x2="62500" y2="48148"/>
                        <a14:foregroundMark x1="60741" y1="48796" x2="69444" y2="48056"/>
                        <a14:foregroundMark x1="69444" y1="48056" x2="61204" y2="46389"/>
                        <a14:foregroundMark x1="61204" y1="46389" x2="74722" y2="46759"/>
                        <a14:foregroundMark x1="74722" y1="46759" x2="59259" y2="48796"/>
                        <a14:foregroundMark x1="59259" y1="48796" x2="75463" y2="49074"/>
                        <a14:foregroundMark x1="75463" y1="49074" x2="61852" y2="46111"/>
                        <a14:foregroundMark x1="61852" y1="46111" x2="58981" y2="50556"/>
                        <a14:foregroundMark x1="3611" y1="41204" x2="3611" y2="41204"/>
                        <a14:foregroundMark x1="21852" y1="40741" x2="21852" y2="40741"/>
                        <a14:foregroundMark x1="57532" y1="59984" x2="52130" y2="59444"/>
                        <a14:foregroundMark x1="52130" y1="59444" x2="60370" y2="57315"/>
                        <a14:foregroundMark x1="60370" y1="57315" x2="50833" y2="58241"/>
                        <a14:foregroundMark x1="80741" y1="59167" x2="79167" y2="59167"/>
                        <a14:foregroundMark x1="67130" y1="58148" x2="74537" y2="56944"/>
                        <a14:foregroundMark x1="74537" y1="56944" x2="67870" y2="59722"/>
                        <a14:foregroundMark x1="67870" y1="59722" x2="50741" y2="59907"/>
                        <a14:foregroundMark x1="50741" y1="59907" x2="47685" y2="61852"/>
                        <a14:foregroundMark x1="45833" y1="62315" x2="38611" y2="59722"/>
                        <a14:foregroundMark x1="38611" y1="59722" x2="44537" y2="64074"/>
                        <a14:foregroundMark x1="44537" y1="64074" x2="44537" y2="64074"/>
                        <a14:foregroundMark x1="88981" y1="57222" x2="82593" y2="62407"/>
                        <a14:foregroundMark x1="82593" y1="62407" x2="79722" y2="62593"/>
                        <a14:foregroundMark x1="76667" y1="58426" x2="76389" y2="59537"/>
                        <a14:foregroundMark x1="90833" y1="33333" x2="55185" y2="36481"/>
                        <a14:foregroundMark x1="55185" y1="36481" x2="44352" y2="33704"/>
                        <a14:foregroundMark x1="44352" y1="33704" x2="54630" y2="34074"/>
                        <a14:foregroundMark x1="54630" y1="34074" x2="62963" y2="33241"/>
                        <a14:foregroundMark x1="62963" y1="33241" x2="72870" y2="34167"/>
                        <a14:foregroundMark x1="97222" y1="69259" x2="94815" y2="68981"/>
                        <a14:foregroundMark x1="22778" y1="28426" x2="30370" y2="29907"/>
                        <a14:foregroundMark x1="30370" y1="29907" x2="22870" y2="26944"/>
                        <a14:foregroundMark x1="22870" y1="26944" x2="16944" y2="31944"/>
                        <a14:foregroundMark x1="16944" y1="31944" x2="17963" y2="35093"/>
                        <a14:foregroundMark x1="76667" y1="58519" x2="72778" y2="60278"/>
                        <a14:foregroundMark x1="6204" y1="37870" x2="5093" y2="54537"/>
                        <a14:foregroundMark x1="27870" y1="34815" x2="19815" y2="3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973" b="20595"/>
          <a:stretch>
            <a:fillRect/>
          </a:stretch>
        </p:blipFill>
        <p:spPr>
          <a:xfrm>
            <a:off x="1084" y="1613668"/>
            <a:ext cx="6052803" cy="35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43978" y="173673"/>
            <a:ext cx="61727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   10. Preview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13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26" name="Picture 2" descr="Fast Follower Versus First Mover Advantage - Holden Associates">
            <a:extLst>
              <a:ext uri="{FF2B5EF4-FFF2-40B4-BE49-F238E27FC236}">
                <a16:creationId xmlns:a16="http://schemas.microsoft.com/office/drawing/2014/main" id="{7499CD9D-52EA-8009-4604-7F982946A1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9" t="22368" r="13205" b="24338"/>
          <a:stretch>
            <a:fillRect/>
          </a:stretch>
        </p:blipFill>
        <p:spPr bwMode="auto">
          <a:xfrm>
            <a:off x="2734441" y="2276872"/>
            <a:ext cx="3351348" cy="155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hlinkClick r:id="rId5"/>
            <a:extLst>
              <a:ext uri="{FF2B5EF4-FFF2-40B4-BE49-F238E27FC236}">
                <a16:creationId xmlns:a16="http://schemas.microsoft.com/office/drawing/2014/main" id="{DAFD97DD-0033-9C4E-3C11-BE829394F172}"/>
              </a:ext>
            </a:extLst>
          </p:cNvPr>
          <p:cNvSpPr txBox="1"/>
          <p:nvPr/>
        </p:nvSpPr>
        <p:spPr>
          <a:xfrm>
            <a:off x="3021899" y="3152001"/>
            <a:ext cx="3096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https://blogscriptapp.free.nf/</a:t>
            </a:r>
          </a:p>
        </p:txBody>
      </p:sp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C69BAE4-110F-E738-5A03-0F3DF3613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508" y="1523070"/>
            <a:ext cx="6368983" cy="381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1886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3224</TotalTime>
  <Words>711</Words>
  <Application>Microsoft Office PowerPoint</Application>
  <PresentationFormat>On-screen Show (4:3)</PresentationFormat>
  <Paragraphs>148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Droid Sans Fallback</vt:lpstr>
      <vt:lpstr>Roboto</vt:lpstr>
      <vt:lpstr>Symbol</vt:lpstr>
      <vt:lpstr>Times New Roman</vt:lpstr>
      <vt:lpstr>Office Theme</vt:lpstr>
      <vt:lpstr> CRUD based Blog web application (“BlogScript”)  Summer Internship Report Presentation   Date: 08/11/2025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rear</vt:lpstr>
      <vt:lpstr>rear</vt:lpstr>
      <vt:lpstr>PowerPoint Presentation</vt:lpstr>
      <vt:lpstr>PowerPoint Presentation</vt:lpstr>
      <vt:lpstr>PowerPoint Presentation</vt:lpstr>
      <vt:lpstr>\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Jain</dc:creator>
  <cp:lastModifiedBy>PANKAJ KUMAR DAS</cp:lastModifiedBy>
  <cp:revision>311</cp:revision>
  <dcterms:created xsi:type="dcterms:W3CDTF">2016-07-30T14:16:51Z</dcterms:created>
  <dcterms:modified xsi:type="dcterms:W3CDTF">2025-12-27T18:29:11Z</dcterms:modified>
</cp:coreProperties>
</file>